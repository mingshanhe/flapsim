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Three-layer controller (one 2 ms tick)</a:t>
            </a:r>
          </a:p>
          <a:p>
            <a:r>
              <a:rPr sz="1100">
                <a:solidFill>
                  <a:srgbClr val="666666"/>
                </a:solidFill>
              </a:rPr>
              <a:t>Editable shapes; colours: green = learned descending layer, yellow = command gate, orange = steering muscle, blue = reflex PID, grey = classical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2011680"/>
            <a:ext cx="17373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IMU + ToF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11-D reading, 500 Hz, noisy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402336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Task command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evade channel or dash/redirect channel; unit vector along 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371600"/>
            <a:ext cx="15544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1F8A4C"/>
                </a:solidFill>
              </a:rPr>
              <a:t>Features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25-D: 16 rectified IMU, bias, 8 command channels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371600"/>
            <a:ext cx="1371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1F8A4C"/>
                </a:solidFill>
              </a:rPr>
              <a:t>Delay lines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11 taps, 0–20 ms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52160" y="109728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1F8A4C"/>
                </a:solidFill>
              </a:rPr>
              <a:t>LIF hidden layer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8 neurons, 2 sub-steps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4884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1F8A4C"/>
                </a:solidFill>
              </a:rPr>
              <a:t>Outputs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via 11 axonal delays: 2 spiking → pulse; 2 graded g_r, g_p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1280160"/>
            <a:ext cx="1828800" cy="1828800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C9A227"/>
                </a:solidFill>
              </a:rPr>
              <a:t>Command gate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learned pulse and set-points in charge while the command is on + 1 s tail; otherwise classical base law, set-points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0" y="1280160"/>
            <a:ext cx="1737360" cy="914400"/>
          </a:xfrm>
          <a:prstGeom prst="roundRect">
            <a:avLst>
              <a:gd name="adj" fmla="val 8000"/>
            </a:avLst>
          </a:prstGeom>
          <a:solidFill>
            <a:srgbClr val="FFF8E1"/>
          </a:solidFill>
          <a:ln w="1905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C9A227"/>
                </a:solidFill>
              </a:rPr>
              <a:t>Refractory 37 ms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≤ 1 learned onset per wingbeat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0" y="2468880"/>
            <a:ext cx="1737360" cy="173736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9050">
            <a:solidFill>
              <a:srgbClr val="D478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D4781F"/>
                </a:solidFill>
              </a:rPr>
              <a:t>Steering-muscle layer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pulse → ω = 3807 rad/s for 3 ticks (6 ms); ≈ +690 rad/s after the lag → pitch torque, sign set by wingbeat phase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60320" y="4023360"/>
            <a:ext cx="155448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PLL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wingbeat phase from the pitch gyro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4023360"/>
            <a:ext cx="3291840" cy="118872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Classical base pulse law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phase-locked: k_θ = 8, k_q = 0.4; righting reflex (tilt &gt; 25°) only outside the gate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79" y="4023360"/>
            <a:ext cx="1828800" cy="173736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9050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2F6DB5"/>
                </a:solidFill>
              </a:rPr>
              <a:t>Reflex layer (PID)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α, β ← PID(e), e = (g_r, g_p) − (roll, pitch); ω ← PID(z, v_z)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0" y="4480560"/>
            <a:ext cx="173736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Actuators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α, β ±0.3 rad; ω 3115–3807 rad/s; 8.2 ms lag</a:t>
            </a:r>
          </a:p>
        </p:txBody>
      </p:sp>
      <p:cxnSp>
        <p:nvCxnSpPr>
          <p:cNvPr id="16" name="Connector 15"/>
          <p:cNvCxnSpPr>
            <a:stCxn id="3" idx="3"/>
            <a:endCxn id="5" idx="1"/>
          </p:cNvCxnSpPr>
          <p:nvPr/>
        </p:nvCxnSpPr>
        <p:spPr>
          <a:xfrm flipV="1">
            <a:off x="2103120" y="2057400"/>
            <a:ext cx="457200" cy="50292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>
            <a:stCxn id="4" idx="3"/>
            <a:endCxn id="5" idx="1"/>
          </p:cNvCxnSpPr>
          <p:nvPr/>
        </p:nvCxnSpPr>
        <p:spPr>
          <a:xfrm flipV="1">
            <a:off x="2103120" y="2057400"/>
            <a:ext cx="457200" cy="256032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>
            <a:stCxn id="5" idx="3"/>
            <a:endCxn id="6" idx="1"/>
          </p:cNvCxnSpPr>
          <p:nvPr/>
        </p:nvCxnSpPr>
        <p:spPr>
          <a:xfrm flipV="1">
            <a:off x="4114800" y="205740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>
            <a:stCxn id="6" idx="3"/>
            <a:endCxn id="7" idx="1"/>
          </p:cNvCxnSpPr>
          <p:nvPr/>
        </p:nvCxnSpPr>
        <p:spPr>
          <a:xfrm flipV="1">
            <a:off x="5669280" y="1554480"/>
            <a:ext cx="182880" cy="50292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>
            <a:stCxn id="7" idx="3"/>
            <a:endCxn id="8" idx="1"/>
          </p:cNvCxnSpPr>
          <p:nvPr/>
        </p:nvCxnSpPr>
        <p:spPr>
          <a:xfrm flipH="1">
            <a:off x="5852160" y="1554480"/>
            <a:ext cx="1737360" cy="118872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>
            <a:stCxn id="8" idx="3"/>
            <a:endCxn id="9" idx="1"/>
          </p:cNvCxnSpPr>
          <p:nvPr/>
        </p:nvCxnSpPr>
        <p:spPr>
          <a:xfrm flipV="1">
            <a:off x="7589520" y="2194560"/>
            <a:ext cx="365759" cy="54864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>
            <a:stCxn id="9" idx="3"/>
            <a:endCxn id="10" idx="1"/>
          </p:cNvCxnSpPr>
          <p:nvPr/>
        </p:nvCxnSpPr>
        <p:spPr>
          <a:xfrm flipV="1">
            <a:off x="9784079" y="1737360"/>
            <a:ext cx="274321" cy="45720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>
            <a:stCxn id="10" idx="3"/>
            <a:endCxn id="11" idx="1"/>
          </p:cNvCxnSpPr>
          <p:nvPr/>
        </p:nvCxnSpPr>
        <p:spPr>
          <a:xfrm flipH="1">
            <a:off x="10058400" y="1737360"/>
            <a:ext cx="1737360" cy="160020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>
            <a:stCxn id="9" idx="3"/>
            <a:endCxn id="14" idx="1"/>
          </p:cNvCxnSpPr>
          <p:nvPr/>
        </p:nvCxnSpPr>
        <p:spPr>
          <a:xfrm flipH="1">
            <a:off x="7955279" y="2194560"/>
            <a:ext cx="1828800" cy="269748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>
            <a:stCxn id="3" idx="3"/>
            <a:endCxn id="12" idx="1"/>
          </p:cNvCxnSpPr>
          <p:nvPr/>
        </p:nvCxnSpPr>
        <p:spPr>
          <a:xfrm>
            <a:off x="2103120" y="2560320"/>
            <a:ext cx="457200" cy="205740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>
            <a:stCxn id="12" idx="3"/>
            <a:endCxn id="13" idx="1"/>
          </p:cNvCxnSpPr>
          <p:nvPr/>
        </p:nvCxnSpPr>
        <p:spPr>
          <a:xfrm flipV="1">
            <a:off x="4114800" y="461772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>
            <a:stCxn id="13" idx="3"/>
            <a:endCxn id="9" idx="1"/>
          </p:cNvCxnSpPr>
          <p:nvPr/>
        </p:nvCxnSpPr>
        <p:spPr>
          <a:xfrm flipV="1">
            <a:off x="7589520" y="2194560"/>
            <a:ext cx="365759" cy="242316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14" idx="3"/>
            <a:endCxn id="15" idx="1"/>
          </p:cNvCxnSpPr>
          <p:nvPr/>
        </p:nvCxnSpPr>
        <p:spPr>
          <a:xfrm>
            <a:off x="9784079" y="4892040"/>
            <a:ext cx="274321" cy="22860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11" idx="3"/>
            <a:endCxn id="15" idx="1"/>
          </p:cNvCxnSpPr>
          <p:nvPr/>
        </p:nvCxnSpPr>
        <p:spPr>
          <a:xfrm flipH="1">
            <a:off x="10058400" y="3337560"/>
            <a:ext cx="1737360" cy="178308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5760" y="5943600"/>
            <a:ext cx="11430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Fixed interface: sensors, actuators, the 2 ms update and the limits are those of the original environment. A pulse gives pitch torque only; roll goes through g_r → PID → gimbal. Outside the gate every arm is tick-for-tick identical to the classical base law.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Training and evaluation pipeline (plan v11)</a:t>
            </a:r>
          </a:p>
          <a:p>
            <a:r>
              <a:rPr sz="1100">
                <a:solidFill>
                  <a:srgbClr val="666666"/>
                </a:solidFill>
              </a:rPr>
              <a:t>The classical opponent (1) is the imitation teacher, the ES normaliser, the selection reference and the paired comparator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9050"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666666"/>
                </a:solidFill>
              </a:rPr>
              <a:t>1  Opponent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classical: 2-D set-point schedule per task and direction class (7); evade/redirect 24 configs × 8 tuning cases; dash 108 × 16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33172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1F8A4C"/>
                </a:solidFill>
              </a:rPr>
              <a:t>2  Imitation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BPTT with a surrogate gradient on the opponent's traces; 16 training + 4 validation cases per task; 40 epochs; 5 seeds → 5 starts</a:t>
            </a:r>
          </a:p>
        </p:txBody>
      </p:sp>
      <p:cxnSp>
        <p:nvCxnSpPr>
          <p:cNvPr id="5" name="Connector 4"/>
          <p:cNvCxnSpPr>
            <a:stCxn id="3" idx="3"/>
            <a:endCxn id="4" idx="1"/>
          </p:cNvCxnSpPr>
          <p:nvPr/>
        </p:nvCxnSpPr>
        <p:spPr>
          <a:xfrm flipV="1">
            <a:off x="2148840" y="310896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29768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FDF0E4"/>
          </a:solidFill>
          <a:ln w="19050">
            <a:solidFill>
              <a:srgbClr val="D478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D4781F"/>
                </a:solidFill>
              </a:rPr>
              <a:t>3  OpenAI-ES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2564-D, population 16 (8 antithetic pairs), σ 0.02, lr 0.01·0.85^g; 8 cases/task/gen = 24 episodes per candidate (all directions, turns, strata); crash-aware ranking; 16 generations; shared pre-command prefix</a:t>
            </a:r>
          </a:p>
        </p:txBody>
      </p:sp>
      <p:cxnSp>
        <p:nvCxnSpPr>
          <p:cNvPr id="7" name="Connector 6"/>
          <p:cNvCxnSpPr>
            <a:stCxn id="4" idx="3"/>
            <a:endCxn id="6" idx="1"/>
          </p:cNvCxnSpPr>
          <p:nvPr/>
        </p:nvCxnSpPr>
        <p:spPr>
          <a:xfrm flipV="1">
            <a:off x="4114800" y="310896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26364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E8F0FA"/>
          </a:solidFill>
          <a:ln w="19050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2F6DB5"/>
                </a:solidFill>
              </a:rPr>
              <a:t>4  Selection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imitation start + 9 saved centres on 64 fixed validation cases per task; exclude any crash or tilt ≥ 70°; lowest objective → frozen controller</a:t>
            </a:r>
          </a:p>
        </p:txBody>
      </p:sp>
      <p:cxnSp>
        <p:nvCxnSpPr>
          <p:cNvPr id="9" name="Connector 8"/>
          <p:cNvCxnSpPr>
            <a:stCxn id="6" idx="3"/>
            <a:endCxn id="8" idx="1"/>
          </p:cNvCxnSpPr>
          <p:nvPr/>
        </p:nvCxnSpPr>
        <p:spPr>
          <a:xfrm flipV="1">
            <a:off x="6080760" y="310896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22960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F1EAF7"/>
          </a:solidFill>
          <a:ln w="19050">
            <a:solidFill>
              <a:srgbClr val="7B4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7B4FA8"/>
                </a:solidFill>
              </a:rPr>
              <a:t>5  Blind test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fresh seed base, 64 cases per task, paired with the opponent; prereg. pass: ratio ≤ 0.95 and crashes ≤ opponent (≥ 3 of 5 seeds); paired Δ reported</a:t>
            </a:r>
          </a:p>
        </p:txBody>
      </p:sp>
      <p:cxnSp>
        <p:nvCxnSpPr>
          <p:cNvPr id="11" name="Connector 10"/>
          <p:cNvCxnSpPr>
            <a:stCxn id="8" idx="3"/>
            <a:endCxn id="10" idx="1"/>
          </p:cNvCxnSpPr>
          <p:nvPr/>
        </p:nvCxnSpPr>
        <p:spPr>
          <a:xfrm flipV="1">
            <a:off x="8046720" y="310896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0195560" y="1463040"/>
            <a:ext cx="1783080" cy="3291840"/>
          </a:xfrm>
          <a:prstGeom prst="roundRect">
            <a:avLst>
              <a:gd name="adj" fmla="val 8000"/>
            </a:avLst>
          </a:prstGeom>
          <a:solidFill>
            <a:srgbClr val="FBE9E9"/>
          </a:solidFill>
          <a:ln w="19050">
            <a:solidFill>
              <a:srgbClr val="C23B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100">
                <a:solidFill>
                  <a:srgbClr val="C23B3B"/>
                </a:solidFill>
              </a:rPr>
              <a:t>6  Robustness</a:t>
            </a:r>
          </a:p>
          <a:p>
            <a:pPr algn="ctr"/>
            <a:r>
              <a:rPr sz="900">
                <a:solidFill>
                  <a:srgbClr val="222222"/>
                </a:solidFill>
              </a:rPr>
              <a:t>frozen controllers (v12–v13): torque hits 2/3/4.5 mN·m (timing, axis, double), turbulence ×1.25/×1.5, IMU noise ×5, sensor delay 3, mass +12.5 %; H1: paired Δ CI &lt; 0 and crashes ≤ opponent, ≥ 3 of 5 seeds</a:t>
            </a:r>
          </a:p>
        </p:txBody>
      </p:sp>
      <p:cxnSp>
        <p:nvCxnSpPr>
          <p:cNvPr id="13" name="Connector 12"/>
          <p:cNvCxnSpPr>
            <a:stCxn id="10" idx="3"/>
            <a:endCxn id="12" idx="1"/>
          </p:cNvCxnSpPr>
          <p:nvPr/>
        </p:nvCxnSpPr>
        <p:spPr>
          <a:xfrm flipV="1">
            <a:off x="10012680" y="3108960"/>
            <a:ext cx="182880" cy="0"/>
          </a:xfrm>
          <a:prstGeom prst="line">
            <a:avLst/>
          </a:prstGeom>
          <a:ln w="19050">
            <a:solidFill>
              <a:srgbClr val="22222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65760" y="5029200"/>
            <a:ext cx="114300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Objective (stage 3): mean case score ÷ classical class mean + 0.3·[tilt_peak − 60°]₊. Ratio (stages 5–6): case score ÷ opponent class median on the blind cases; Δ = ratio − opponent's own ratio on identical cases (paired bootstrap 95 % CI). Machines: CloudPC-2 seeds 1–3, HomePC seeds 4–5 (bit-identical episodes); GoogleCloud exploratory seeds only.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Manoeuvre tasks (heading frame fixed at the command onset; 0° forward, 90° left)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300">
                <a:solidFill>
                  <a:srgbClr val="2F6DB5"/>
                </a:solidFill>
              </a:rPr>
              <a:t>Evade</a:t>
            </a:r>
          </a:p>
          <a:p>
            <a:pPr algn="ctr"/>
            <a:r>
              <a:rPr sz="1100">
                <a:solidFill>
                  <a:srgbClr val="222222"/>
                </a:solidFill>
              </a:rPr>
              <a:t>0.10 m along φ ∈ {0, 90, 180, 270}°
window 1.5 s, t0 ~ U(2.2, 2.8) s
classes: pitch (0/180°), roll (90/270°)
score: t_reach (or 1.5 + 10·short) + 0.5·|cross| + 0.03·max|Δz| + crash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97680" y="13716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8A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300">
                <a:solidFill>
                  <a:srgbClr val="1F8A4C"/>
                </a:solidFill>
              </a:rPr>
              <a:t>Redirect</a:t>
            </a:r>
          </a:p>
          <a:p>
            <a:pPr algn="ctr"/>
            <a:r>
              <a:rPr sz="1100">
                <a:solidFill>
                  <a:srgbClr val="222222"/>
                </a:solidFill>
              </a:rPr>
              <a:t>along φ₁ ∈ {0, 90, 180, 270}°; at 0.08 m or 1.0 s the command switches to φ₂ = φ₁ ± 90°; then 0.10 m along φ₂
window 4 s, t0 = 2.4 s; class by φ₂
score: t_switch + (t_reach2 or (4 − t_switch) + 10·short) + 2·max(0, overrun − 0.05) + 0.03·max|Δz| + crash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371600"/>
            <a:ext cx="3566160" cy="3291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D478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b="1" sz="1300">
                <a:solidFill>
                  <a:srgbClr val="D4781F"/>
                </a:solidFill>
              </a:rPr>
              <a:t>Dash</a:t>
            </a:r>
          </a:p>
          <a:p>
            <a:pPr algn="ctr"/>
            <a:r>
              <a:rPr sz="1100">
                <a:solidFill>
                  <a:srgbClr val="222222"/>
                </a:solidFill>
              </a:rPr>
              <a:t>0.15 m along φ ∈ {0, 45, …, 315}° and stop (|v_along| &lt; 0.1 m/s for 0.3 s)
window 4 s, t0 = 2.4 s; classes pitch / roll / diagonal
score: (t_reach or 4 + 2·short) + (t_settle or 4) + 2·max(0, max_along − 0.25) + 0.5·|cross| + 0.03·max|Δz| + crash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/>
              <a:t>Crash: true tilt &gt; 80.2°, |z − z_start| &gt; 1 m, z &lt; 0.12 m, ground clearance ≤ 3 cm, or numerical failure; crash term 10 + 5·(unflown fraction of the window). Classical normalisers (ES; opponent class means on 24 cases): evade pitch 0.80 / roll 0.59, redirect 2.09 / 1.25, dash 5.79 / 1.53 / 4.96.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fig_m1_architecture</a:t>
            </a:r>
          </a:p>
        </p:txBody>
      </p:sp>
      <p:pic>
        <p:nvPicPr>
          <p:cNvPr id="3" name="Picture 2" descr="fig_m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9790276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fig_m2_snn</a:t>
            </a:r>
          </a:p>
        </p:txBody>
      </p:sp>
      <p:pic>
        <p:nvPicPr>
          <p:cNvPr id="3" name="Picture 2" descr="fig_m2_sn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9646861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fig_m3_gating</a:t>
            </a:r>
          </a:p>
        </p:txBody>
      </p:sp>
      <p:pic>
        <p:nvPicPr>
          <p:cNvPr id="3" name="Picture 2" descr="fig_m3_g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19" cy="364679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fig_m4_pipeline</a:t>
            </a:r>
          </a:p>
        </p:txBody>
      </p:sp>
      <p:pic>
        <p:nvPicPr>
          <p:cNvPr id="3" name="Picture 2" descr="fig_m4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48117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fig_m5_tasks</a:t>
            </a:r>
          </a:p>
        </p:txBody>
      </p:sp>
      <p:pic>
        <p:nvPicPr>
          <p:cNvPr id="3" name="Picture 2" descr="fig_m5_tas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398505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fig_r0_nominal</a:t>
            </a:r>
          </a:p>
        </p:txBody>
      </p:sp>
      <p:pic>
        <p:nvPicPr>
          <p:cNvPr id="3" name="Picture 2" descr="fig_r0_no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5623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fig_r0b_skew</a:t>
            </a:r>
          </a:p>
        </p:txBody>
      </p:sp>
      <p:pic>
        <p:nvPicPr>
          <p:cNvPr id="3" name="Picture 2" descr="fig_r0b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9985248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fig_r1_training</a:t>
            </a:r>
          </a:p>
        </p:txBody>
      </p:sp>
      <p:pic>
        <p:nvPicPr>
          <p:cNvPr id="3" name="Picture 2" descr="fig_r1_trai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424891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fig_r2_crashes</a:t>
            </a:r>
          </a:p>
        </p:txBody>
      </p:sp>
      <p:pic>
        <p:nvPicPr>
          <p:cNvPr id="3" name="Picture 2" descr="fig_r2_crash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433482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fig_r3_paired_delta</a:t>
            </a:r>
          </a:p>
        </p:txBody>
      </p:sp>
      <p:pic>
        <p:nvPicPr>
          <p:cNvPr id="3" name="Picture 2" descr="fig_r3_paired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7151238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fig_r4_dose_response</a:t>
            </a:r>
          </a:p>
        </p:txBody>
      </p:sp>
      <p:pic>
        <p:nvPicPr>
          <p:cNvPr id="3" name="Picture 2" descr="fig_r4_dose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8778240" cy="576072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fig_r5_mechanism</a:t>
            </a:r>
          </a:p>
        </p:txBody>
      </p:sp>
      <p:pic>
        <p:nvPicPr>
          <p:cNvPr id="3" name="Picture 2" descr="fig_r5_mechan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359907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fig_r5b_ablation</a:t>
            </a:r>
          </a:p>
        </p:txBody>
      </p:sp>
      <p:pic>
        <p:nvPicPr>
          <p:cNvPr id="3" name="Picture 2" descr="fig_r5b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11247120" cy="53111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/>
              <a:t>fig_r6_kick_frame</a:t>
            </a:r>
          </a:p>
        </p:txBody>
      </p:sp>
      <p:pic>
        <p:nvPicPr>
          <p:cNvPr id="3" name="Picture 2" descr="fig_r6_kick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822960"/>
            <a:ext cx="6963507" cy="57607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