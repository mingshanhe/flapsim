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Three-layer controller (one 2 ms tick)</a:t>
            </a:r>
          </a:p>
          <a:p>
            <a:r>
              <a:rPr sz="1100">
                <a:solidFill>
                  <a:srgbClr val="666666"/>
                </a:solidFill>
              </a:rPr>
              <a:t>Editable shapes; colours: green = learned descending layer, yellow = command gate, orange = steering muscle, blue = reflex PID, grey = classical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2011680"/>
            <a:ext cx="17373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b="1" sz="1100">
                <a:solidFill>
                  <a:srgbClr val="666666"/>
                </a:solidFill>
              </a:rPr>
              <a:t>IMU + ToF</a:t>
            </a:r>
          </a:p>
          <a:p>
            <a:pPr algn="ctr"/>
            <a:r>
              <a:rPr sz="900">
                <a:solidFill>
                  <a:srgbClr val="222222"/>
                </a:solidFill>
              </a:rPr>
              <a:t>11-D reading, 500 Hz, noisy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4023360"/>
            <a:ext cx="17373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b="1" sz="1100">
                <a:solidFill>
                  <a:srgbClr val="666666"/>
                </a:solidFill>
              </a:rPr>
              <a:t>Task command</a:t>
            </a:r>
          </a:p>
          <a:p>
            <a:pPr algn="ctr"/>
            <a:r>
              <a:rPr sz="900">
                <a:solidFill>
                  <a:srgbClr val="222222"/>
                </a:solidFill>
              </a:rPr>
              <a:t>evade channel or dash/redirect channel; unit vector along 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1371600"/>
            <a:ext cx="1554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b="1" sz="1100">
                <a:solidFill>
                  <a:srgbClr val="1F8A4C"/>
                </a:solidFill>
              </a:rPr>
              <a:t>Features</a:t>
            </a:r>
          </a:p>
          <a:p>
            <a:pPr algn="ctr"/>
            <a:r>
              <a:rPr sz="900">
                <a:solidFill>
                  <a:srgbClr val="222222"/>
                </a:solidFill>
              </a:rPr>
              <a:t>25-D: 16 rectified IMU, bias, 8 command channels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b="1" sz="1100">
                <a:solidFill>
                  <a:srgbClr val="1F8A4C"/>
                </a:solidFill>
              </a:rPr>
              <a:t>Delay lines</a:t>
            </a:r>
          </a:p>
          <a:p>
            <a:pPr algn="ctr"/>
            <a:r>
              <a:rPr sz="900">
                <a:solidFill>
                  <a:srgbClr val="222222"/>
                </a:solidFill>
              </a:rPr>
              <a:t>11 taps, 0–20 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109728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b="1" sz="1100">
                <a:solidFill>
                  <a:srgbClr val="1F8A4C"/>
                </a:solidFill>
              </a:rPr>
              <a:t>LIF hidden layer</a:t>
            </a:r>
          </a:p>
          <a:p>
            <a:pPr algn="ctr"/>
            <a:r>
              <a:rPr sz="900">
                <a:solidFill>
                  <a:srgbClr val="222222"/>
                </a:solidFill>
              </a:rPr>
              <a:t>8 neurons, 2 sub-steps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2148840"/>
            <a:ext cx="17373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b="1" sz="1100">
                <a:solidFill>
                  <a:srgbClr val="1F8A4C"/>
                </a:solidFill>
              </a:rPr>
              <a:t>Outputs</a:t>
            </a:r>
          </a:p>
          <a:p>
            <a:pPr algn="ctr"/>
            <a:r>
              <a:rPr sz="900">
                <a:solidFill>
                  <a:srgbClr val="222222"/>
                </a:solidFill>
              </a:rPr>
              <a:t>via 11 axonal delays: 2 spiking → pulse; 2 graded g_r, g_p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280160"/>
            <a:ext cx="1828800" cy="182880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90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b="1" sz="1100">
                <a:solidFill>
                  <a:srgbClr val="C9A227"/>
                </a:solidFill>
              </a:rPr>
              <a:t>Command gate</a:t>
            </a:r>
          </a:p>
          <a:p>
            <a:pPr algn="ctr"/>
            <a:r>
              <a:rPr sz="900">
                <a:solidFill>
                  <a:srgbClr val="222222"/>
                </a:solidFill>
              </a:rPr>
              <a:t>learned pulse and set-points in charge while the command is on + 1 s tail; otherwise classical base law, set-points 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0" y="128016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90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b="1" sz="1100">
                <a:solidFill>
                  <a:srgbClr val="C9A227"/>
                </a:solidFill>
              </a:rPr>
              <a:t>Refractory 37 ms</a:t>
            </a:r>
          </a:p>
          <a:p>
            <a:pPr algn="ctr"/>
            <a:r>
              <a:rPr sz="900">
                <a:solidFill>
                  <a:srgbClr val="222222"/>
                </a:solidFill>
              </a:rPr>
              <a:t>≤ 1 learned onset per wingbeat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0" y="2468880"/>
            <a:ext cx="1737360" cy="1737360"/>
          </a:xfrm>
          <a:prstGeom prst="roundRect">
            <a:avLst>
              <a:gd name="adj" fmla="val 8000"/>
            </a:avLst>
          </a:prstGeom>
          <a:solidFill>
            <a:srgbClr val="FDF0E4"/>
          </a:solidFill>
          <a:ln w="19050">
            <a:solidFill>
              <a:srgbClr val="D47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b="1" sz="1100">
                <a:solidFill>
                  <a:srgbClr val="D4781F"/>
                </a:solidFill>
              </a:rPr>
              <a:t>Steering-muscle layer</a:t>
            </a:r>
          </a:p>
          <a:p>
            <a:pPr algn="ctr"/>
            <a:r>
              <a:rPr sz="900">
                <a:solidFill>
                  <a:srgbClr val="222222"/>
                </a:solidFill>
              </a:rPr>
              <a:t>pulse → ω = 3807 rad/s for 3 ticks (6 ms); ≈ +690 rad/s after the lag → pitch torque, sign set by wingbeat phase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4023360"/>
            <a:ext cx="1554480" cy="1188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b="1" sz="1100">
                <a:solidFill>
                  <a:srgbClr val="666666"/>
                </a:solidFill>
              </a:rPr>
              <a:t>PLL</a:t>
            </a:r>
          </a:p>
          <a:p>
            <a:pPr algn="ctr"/>
            <a:r>
              <a:rPr sz="900">
                <a:solidFill>
                  <a:srgbClr val="222222"/>
                </a:solidFill>
              </a:rPr>
              <a:t>wingbeat phase from the pitch gyro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4023360"/>
            <a:ext cx="3291840" cy="1188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b="1" sz="1100">
                <a:solidFill>
                  <a:srgbClr val="666666"/>
                </a:solidFill>
              </a:rPr>
              <a:t>Classical base pulse law</a:t>
            </a:r>
          </a:p>
          <a:p>
            <a:pPr algn="ctr"/>
            <a:r>
              <a:rPr sz="900">
                <a:solidFill>
                  <a:srgbClr val="222222"/>
                </a:solidFill>
              </a:rPr>
              <a:t>phase-locked: k_θ = 8, k_q = 0.4; righting reflex (tilt &gt; 25°) only outside the gate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4023360"/>
            <a:ext cx="1828800" cy="173736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9050">
            <a:solidFill>
              <a:srgbClr val="2F6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b="1" sz="1100">
                <a:solidFill>
                  <a:srgbClr val="2F6DB5"/>
                </a:solidFill>
              </a:rPr>
              <a:t>Reflex layer (PID)</a:t>
            </a:r>
          </a:p>
          <a:p>
            <a:pPr algn="ctr"/>
            <a:r>
              <a:rPr sz="900">
                <a:solidFill>
                  <a:srgbClr val="222222"/>
                </a:solidFill>
              </a:rPr>
              <a:t>α, β ← PID(e), e = (g_r, g_p) − (roll, pitch); ω ← PID(z, v_z)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0" y="4480560"/>
            <a:ext cx="17373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b="1" sz="1100">
                <a:solidFill>
                  <a:srgbClr val="666666"/>
                </a:solidFill>
              </a:rPr>
              <a:t>Actuators</a:t>
            </a:r>
          </a:p>
          <a:p>
            <a:pPr algn="ctr"/>
            <a:r>
              <a:rPr sz="900">
                <a:solidFill>
                  <a:srgbClr val="222222"/>
                </a:solidFill>
              </a:rPr>
              <a:t>α, β ±0.3 rad; ω 3115–3807 rad/s; 8.2 ms lag</a:t>
            </a:r>
          </a:p>
        </p:txBody>
      </p:sp>
      <p:cxnSp>
        <p:nvCxnSpPr>
          <p:cNvPr id="16" name="Connector 15"/>
          <p:cNvCxnSpPr>
            <a:stCxn id="3" idx="3"/>
            <a:endCxn id="5" idx="1"/>
          </p:cNvCxnSpPr>
          <p:nvPr/>
        </p:nvCxnSpPr>
        <p:spPr>
          <a:xfrm flipV="1">
            <a:off x="2103120" y="2057400"/>
            <a:ext cx="457200" cy="502920"/>
          </a:xfrm>
          <a:prstGeom prst="line">
            <a:avLst/>
          </a:prstGeom>
          <a:ln w="19050">
            <a:solidFill>
              <a:srgbClr val="2222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stCxn id="4" idx="3"/>
            <a:endCxn id="5" idx="1"/>
          </p:cNvCxnSpPr>
          <p:nvPr/>
        </p:nvCxnSpPr>
        <p:spPr>
          <a:xfrm flipV="1">
            <a:off x="2103120" y="2057400"/>
            <a:ext cx="457200" cy="2560320"/>
          </a:xfrm>
          <a:prstGeom prst="line">
            <a:avLst/>
          </a:prstGeom>
          <a:ln w="19050">
            <a:solidFill>
              <a:srgbClr val="2222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>
            <a:stCxn id="5" idx="3"/>
            <a:endCxn id="6" idx="1"/>
          </p:cNvCxnSpPr>
          <p:nvPr/>
        </p:nvCxnSpPr>
        <p:spPr>
          <a:xfrm flipV="1">
            <a:off x="4114800" y="2057400"/>
            <a:ext cx="182880" cy="0"/>
          </a:xfrm>
          <a:prstGeom prst="line">
            <a:avLst/>
          </a:prstGeom>
          <a:ln w="19050">
            <a:solidFill>
              <a:srgbClr val="2222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stCxn id="6" idx="3"/>
            <a:endCxn id="7" idx="1"/>
          </p:cNvCxnSpPr>
          <p:nvPr/>
        </p:nvCxnSpPr>
        <p:spPr>
          <a:xfrm flipV="1">
            <a:off x="5669280" y="1554480"/>
            <a:ext cx="182880" cy="502920"/>
          </a:xfrm>
          <a:prstGeom prst="line">
            <a:avLst/>
          </a:prstGeom>
          <a:ln w="19050">
            <a:solidFill>
              <a:srgbClr val="2222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7" idx="3"/>
            <a:endCxn id="8" idx="1"/>
          </p:cNvCxnSpPr>
          <p:nvPr/>
        </p:nvCxnSpPr>
        <p:spPr>
          <a:xfrm flipH="1">
            <a:off x="5852160" y="1554480"/>
            <a:ext cx="1737360" cy="1188720"/>
          </a:xfrm>
          <a:prstGeom prst="line">
            <a:avLst/>
          </a:prstGeom>
          <a:ln w="19050">
            <a:solidFill>
              <a:srgbClr val="2222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stCxn id="8" idx="3"/>
            <a:endCxn id="9" idx="1"/>
          </p:cNvCxnSpPr>
          <p:nvPr/>
        </p:nvCxnSpPr>
        <p:spPr>
          <a:xfrm flipV="1">
            <a:off x="7589520" y="2194560"/>
            <a:ext cx="365759" cy="548640"/>
          </a:xfrm>
          <a:prstGeom prst="line">
            <a:avLst/>
          </a:prstGeom>
          <a:ln w="19050">
            <a:solidFill>
              <a:srgbClr val="2222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9" idx="3"/>
            <a:endCxn id="10" idx="1"/>
          </p:cNvCxnSpPr>
          <p:nvPr/>
        </p:nvCxnSpPr>
        <p:spPr>
          <a:xfrm flipV="1">
            <a:off x="9784079" y="1737360"/>
            <a:ext cx="274321" cy="457200"/>
          </a:xfrm>
          <a:prstGeom prst="line">
            <a:avLst/>
          </a:prstGeom>
          <a:ln w="19050">
            <a:solidFill>
              <a:srgbClr val="2222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stCxn id="10" idx="3"/>
            <a:endCxn id="11" idx="1"/>
          </p:cNvCxnSpPr>
          <p:nvPr/>
        </p:nvCxnSpPr>
        <p:spPr>
          <a:xfrm flipH="1">
            <a:off x="10058400" y="1737360"/>
            <a:ext cx="1737360" cy="1600200"/>
          </a:xfrm>
          <a:prstGeom prst="line">
            <a:avLst/>
          </a:prstGeom>
          <a:ln w="19050">
            <a:solidFill>
              <a:srgbClr val="2222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stCxn id="9" idx="3"/>
            <a:endCxn id="14" idx="1"/>
          </p:cNvCxnSpPr>
          <p:nvPr/>
        </p:nvCxnSpPr>
        <p:spPr>
          <a:xfrm flipH="1">
            <a:off x="7955279" y="2194560"/>
            <a:ext cx="1828800" cy="2697480"/>
          </a:xfrm>
          <a:prstGeom prst="line">
            <a:avLst/>
          </a:prstGeom>
          <a:ln w="19050">
            <a:solidFill>
              <a:srgbClr val="2222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stCxn id="3" idx="3"/>
            <a:endCxn id="12" idx="1"/>
          </p:cNvCxnSpPr>
          <p:nvPr/>
        </p:nvCxnSpPr>
        <p:spPr>
          <a:xfrm>
            <a:off x="2103120" y="2560320"/>
            <a:ext cx="457200" cy="2057400"/>
          </a:xfrm>
          <a:prstGeom prst="line">
            <a:avLst/>
          </a:prstGeom>
          <a:ln w="19050">
            <a:solidFill>
              <a:srgbClr val="2222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stCxn id="12" idx="3"/>
            <a:endCxn id="13" idx="1"/>
          </p:cNvCxnSpPr>
          <p:nvPr/>
        </p:nvCxnSpPr>
        <p:spPr>
          <a:xfrm flipV="1">
            <a:off x="4114800" y="4617720"/>
            <a:ext cx="182880" cy="0"/>
          </a:xfrm>
          <a:prstGeom prst="line">
            <a:avLst/>
          </a:prstGeom>
          <a:ln w="19050">
            <a:solidFill>
              <a:srgbClr val="2222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stCxn id="13" idx="3"/>
            <a:endCxn id="9" idx="1"/>
          </p:cNvCxnSpPr>
          <p:nvPr/>
        </p:nvCxnSpPr>
        <p:spPr>
          <a:xfrm flipV="1">
            <a:off x="7589520" y="2194560"/>
            <a:ext cx="365759" cy="2423160"/>
          </a:xfrm>
          <a:prstGeom prst="line">
            <a:avLst/>
          </a:prstGeom>
          <a:ln w="19050">
            <a:solidFill>
              <a:srgbClr val="2222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stCxn id="14" idx="3"/>
            <a:endCxn id="15" idx="1"/>
          </p:cNvCxnSpPr>
          <p:nvPr/>
        </p:nvCxnSpPr>
        <p:spPr>
          <a:xfrm>
            <a:off x="9784079" y="4892040"/>
            <a:ext cx="274321" cy="228600"/>
          </a:xfrm>
          <a:prstGeom prst="line">
            <a:avLst/>
          </a:prstGeom>
          <a:ln w="19050">
            <a:solidFill>
              <a:srgbClr val="2222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stCxn id="11" idx="3"/>
            <a:endCxn id="15" idx="1"/>
          </p:cNvCxnSpPr>
          <p:nvPr/>
        </p:nvCxnSpPr>
        <p:spPr>
          <a:xfrm flipH="1">
            <a:off x="10058400" y="3337560"/>
            <a:ext cx="1737360" cy="1783080"/>
          </a:xfrm>
          <a:prstGeom prst="line">
            <a:avLst/>
          </a:prstGeom>
          <a:ln w="19050">
            <a:solidFill>
              <a:srgbClr val="2222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65760" y="594360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Fixed interface: sensors, actuators, the 2 ms update and the limits are those of the original environment. A pulse gives pitch torque only; roll goes through g_r → PID → gimbal. Outside the gate every arm is tick-for-tick identical to the classical base law.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Training and evaluation pipeline (plan v11)</a:t>
            </a:r>
          </a:p>
          <a:p>
            <a:r>
              <a:rPr sz="1100">
                <a:solidFill>
                  <a:srgbClr val="666666"/>
                </a:solidFill>
              </a:rPr>
              <a:t>The classical opponent (1) is the imitation teacher, the ES normaliser, the selection reference and the paired comparator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463040"/>
            <a:ext cx="1783080" cy="32918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b="1" sz="1100">
                <a:solidFill>
                  <a:srgbClr val="666666"/>
                </a:solidFill>
              </a:rPr>
              <a:t>1  Opponent</a:t>
            </a:r>
          </a:p>
          <a:p>
            <a:pPr algn="ctr"/>
            <a:r>
              <a:rPr sz="900">
                <a:solidFill>
                  <a:srgbClr val="222222"/>
                </a:solidFill>
              </a:rPr>
              <a:t>classical: 2-D set-point schedule per task and direction class (7); evade/redirect 24 configs × 8 tuning cases; dash 108 × 16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31720" y="1463040"/>
            <a:ext cx="1783080" cy="3291840"/>
          </a:xfrm>
          <a:prstGeom prst="roundRect">
            <a:avLst>
              <a:gd name="adj" fmla="val 8000"/>
            </a:avLst>
          </a:prstGeom>
          <a:solidFill>
            <a:srgbClr val="E9F5EE"/>
          </a:solidFill>
          <a:ln w="19050">
            <a:solidFill>
              <a:srgbClr val="1F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b="1" sz="1100">
                <a:solidFill>
                  <a:srgbClr val="1F8A4C"/>
                </a:solidFill>
              </a:rPr>
              <a:t>2  Imitation</a:t>
            </a:r>
          </a:p>
          <a:p>
            <a:pPr algn="ctr"/>
            <a:r>
              <a:rPr sz="900">
                <a:solidFill>
                  <a:srgbClr val="222222"/>
                </a:solidFill>
              </a:rPr>
              <a:t>BPTT with a surrogate gradient on the opponent's traces; 16 training + 4 validation cases per task; 40 epochs; 5 seeds → 5 starts</a:t>
            </a:r>
          </a:p>
        </p:txBody>
      </p:sp>
      <p:cxnSp>
        <p:nvCxnSpPr>
          <p:cNvPr id="5" name="Connector 4"/>
          <p:cNvCxnSpPr>
            <a:stCxn id="3" idx="3"/>
            <a:endCxn id="4" idx="1"/>
          </p:cNvCxnSpPr>
          <p:nvPr/>
        </p:nvCxnSpPr>
        <p:spPr>
          <a:xfrm flipV="1">
            <a:off x="2148840" y="3108960"/>
            <a:ext cx="182880" cy="0"/>
          </a:xfrm>
          <a:prstGeom prst="line">
            <a:avLst/>
          </a:prstGeom>
          <a:ln w="19050">
            <a:solidFill>
              <a:srgbClr val="2222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297680" y="1463040"/>
            <a:ext cx="1783080" cy="3291840"/>
          </a:xfrm>
          <a:prstGeom prst="roundRect">
            <a:avLst>
              <a:gd name="adj" fmla="val 8000"/>
            </a:avLst>
          </a:prstGeom>
          <a:solidFill>
            <a:srgbClr val="FDF0E4"/>
          </a:solidFill>
          <a:ln w="19050">
            <a:solidFill>
              <a:srgbClr val="D47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b="1" sz="1100">
                <a:solidFill>
                  <a:srgbClr val="D4781F"/>
                </a:solidFill>
              </a:rPr>
              <a:t>3  OpenAI-ES</a:t>
            </a:r>
          </a:p>
          <a:p>
            <a:pPr algn="ctr"/>
            <a:r>
              <a:rPr sz="900">
                <a:solidFill>
                  <a:srgbClr val="222222"/>
                </a:solidFill>
              </a:rPr>
              <a:t>2564-D, population 16 (8 antithetic pairs), σ 0.02, lr 0.01·0.85^g; 8 cases/task/gen = 24 episodes per candidate (all directions, turns, strata); crash-aware ranking; 16 generations; shared pre-command prefix</a:t>
            </a:r>
          </a:p>
        </p:txBody>
      </p:sp>
      <p:cxnSp>
        <p:nvCxnSpPr>
          <p:cNvPr id="7" name="Connector 6"/>
          <p:cNvCxnSpPr>
            <a:stCxn id="4" idx="3"/>
            <a:endCxn id="6" idx="1"/>
          </p:cNvCxnSpPr>
          <p:nvPr/>
        </p:nvCxnSpPr>
        <p:spPr>
          <a:xfrm flipV="1">
            <a:off x="4114800" y="3108960"/>
            <a:ext cx="182880" cy="0"/>
          </a:xfrm>
          <a:prstGeom prst="line">
            <a:avLst/>
          </a:prstGeom>
          <a:ln w="19050">
            <a:solidFill>
              <a:srgbClr val="2222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263640" y="1463040"/>
            <a:ext cx="1783080" cy="329184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9050">
            <a:solidFill>
              <a:srgbClr val="2F6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b="1" sz="1100">
                <a:solidFill>
                  <a:srgbClr val="2F6DB5"/>
                </a:solidFill>
              </a:rPr>
              <a:t>4  Selection</a:t>
            </a:r>
          </a:p>
          <a:p>
            <a:pPr algn="ctr"/>
            <a:r>
              <a:rPr sz="900">
                <a:solidFill>
                  <a:srgbClr val="222222"/>
                </a:solidFill>
              </a:rPr>
              <a:t>imitation start + 9 saved centres on 64 fixed validation cases per task; exclude any crash or tilt ≥ 70°; lowest objective → frozen controller</a:t>
            </a:r>
          </a:p>
        </p:txBody>
      </p:sp>
      <p:cxnSp>
        <p:nvCxnSpPr>
          <p:cNvPr id="9" name="Connector 8"/>
          <p:cNvCxnSpPr>
            <a:stCxn id="6" idx="3"/>
            <a:endCxn id="8" idx="1"/>
          </p:cNvCxnSpPr>
          <p:nvPr/>
        </p:nvCxnSpPr>
        <p:spPr>
          <a:xfrm flipV="1">
            <a:off x="6080760" y="3108960"/>
            <a:ext cx="182880" cy="0"/>
          </a:xfrm>
          <a:prstGeom prst="line">
            <a:avLst/>
          </a:prstGeom>
          <a:ln w="19050">
            <a:solidFill>
              <a:srgbClr val="2222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229600" y="1463040"/>
            <a:ext cx="1783080" cy="3291840"/>
          </a:xfrm>
          <a:prstGeom prst="roundRect">
            <a:avLst>
              <a:gd name="adj" fmla="val 8000"/>
            </a:avLst>
          </a:prstGeom>
          <a:solidFill>
            <a:srgbClr val="F1EAF7"/>
          </a:solidFill>
          <a:ln w="19050">
            <a:solidFill>
              <a:srgbClr val="7B4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b="1" sz="1100">
                <a:solidFill>
                  <a:srgbClr val="7B4FA8"/>
                </a:solidFill>
              </a:rPr>
              <a:t>5  Blind test</a:t>
            </a:r>
          </a:p>
          <a:p>
            <a:pPr algn="ctr"/>
            <a:r>
              <a:rPr sz="900">
                <a:solidFill>
                  <a:srgbClr val="222222"/>
                </a:solidFill>
              </a:rPr>
              <a:t>fresh seed base, 64 cases per task, paired with the opponent; prereg. pass: ratio ≤ 0.95 and crashes ≤ opponent (≥ 3 of 5 seeds); paired Δ reported</a:t>
            </a:r>
          </a:p>
        </p:txBody>
      </p:sp>
      <p:cxnSp>
        <p:nvCxnSpPr>
          <p:cNvPr id="11" name="Connector 10"/>
          <p:cNvCxnSpPr>
            <a:stCxn id="8" idx="3"/>
            <a:endCxn id="10" idx="1"/>
          </p:cNvCxnSpPr>
          <p:nvPr/>
        </p:nvCxnSpPr>
        <p:spPr>
          <a:xfrm flipV="1">
            <a:off x="8046720" y="3108960"/>
            <a:ext cx="182880" cy="0"/>
          </a:xfrm>
          <a:prstGeom prst="line">
            <a:avLst/>
          </a:prstGeom>
          <a:ln w="19050">
            <a:solidFill>
              <a:srgbClr val="2222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195560" y="1463040"/>
            <a:ext cx="1783080" cy="3291840"/>
          </a:xfrm>
          <a:prstGeom prst="roundRect">
            <a:avLst>
              <a:gd name="adj" fmla="val 8000"/>
            </a:avLst>
          </a:prstGeom>
          <a:solidFill>
            <a:srgbClr val="FBE9E9"/>
          </a:solidFill>
          <a:ln w="19050">
            <a:solidFill>
              <a:srgbClr val="C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b="1" sz="1100">
                <a:solidFill>
                  <a:srgbClr val="C23B3B"/>
                </a:solidFill>
              </a:rPr>
              <a:t>6  Robustness</a:t>
            </a:r>
          </a:p>
          <a:p>
            <a:pPr algn="ctr"/>
            <a:r>
              <a:rPr sz="900">
                <a:solidFill>
                  <a:srgbClr val="222222"/>
                </a:solidFill>
              </a:rPr>
              <a:t>frozen controllers (v12–v13): torque hits 2/3/4.5 mN·m (timing, axis, double), turbulence ×1.25/×1.5, IMU noise ×5, sensor delay 3, mass +12.5 %; H1: paired Δ CI &lt; 0 and crashes ≤ opponent, ≥ 3 of 5 seeds</a:t>
            </a:r>
          </a:p>
        </p:txBody>
      </p:sp>
      <p:cxnSp>
        <p:nvCxnSpPr>
          <p:cNvPr id="13" name="Connector 12"/>
          <p:cNvCxnSpPr>
            <a:stCxn id="10" idx="3"/>
            <a:endCxn id="12" idx="1"/>
          </p:cNvCxnSpPr>
          <p:nvPr/>
        </p:nvCxnSpPr>
        <p:spPr>
          <a:xfrm flipV="1">
            <a:off x="10012680" y="3108960"/>
            <a:ext cx="182880" cy="0"/>
          </a:xfrm>
          <a:prstGeom prst="line">
            <a:avLst/>
          </a:prstGeom>
          <a:ln w="19050">
            <a:solidFill>
              <a:srgbClr val="2222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65760" y="502920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Objective (stage 3): mean case score ÷ classical class mean + 0.3·[tilt_peak − 60°]₊. Ratio (stages 5–6): case score ÷ opponent class median on the blind cases; Δ = ratio − opponent's own ratio on identical cases (paired bootstrap 95 % CI). Machines: CloudPC-2 seeds 1–3, HomePC seeds 4–5 (bit-identical episodes); GoogleCloud exploratory seeds only.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Manoeuvre tasks (heading frame fixed at the command onset; 0° forward, 90° left)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5661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6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b="1" sz="1300">
                <a:solidFill>
                  <a:srgbClr val="2F6DB5"/>
                </a:solidFill>
              </a:rPr>
              <a:t>Evade</a:t>
            </a:r>
          </a:p>
          <a:p>
            <a:pPr algn="ctr"/>
            <a:r>
              <a:rPr sz="1100">
                <a:solidFill>
                  <a:srgbClr val="222222"/>
                </a:solidFill>
              </a:rPr>
              <a:t>0.10 m along φ ∈ {0, 90, 180, 270}°
window 1.5 s, t0 ~ U(2.2, 2.8) s
classes: pitch (0/180°), roll (90/270°)
score: t_reach (or 1.5 + 10·short) + 0.5·|cross| + 0.03·max|Δz| + crash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371600"/>
            <a:ext cx="35661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b="1" sz="1300">
                <a:solidFill>
                  <a:srgbClr val="1F8A4C"/>
                </a:solidFill>
              </a:rPr>
              <a:t>Redirect</a:t>
            </a:r>
          </a:p>
          <a:p>
            <a:pPr algn="ctr"/>
            <a:r>
              <a:rPr sz="1100">
                <a:solidFill>
                  <a:srgbClr val="222222"/>
                </a:solidFill>
              </a:rPr>
              <a:t>along φ₁ ∈ {0, 90, 180, 270}°; at 0.08 m or 1.0 s the command switches to φ₂ = φ₁ ± 90°; then 0.10 m along φ₂
window 4 s, t0 = 2.4 s; class by φ₂
score: t_switch + (t_reach2 or (4 − t_switch) + 10·short) + 2·max(0, overrun − 0.05) + 0.03·max|Δz| + crash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371600"/>
            <a:ext cx="35661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47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b="1" sz="1300">
                <a:solidFill>
                  <a:srgbClr val="D4781F"/>
                </a:solidFill>
              </a:rPr>
              <a:t>Dash</a:t>
            </a:r>
          </a:p>
          <a:p>
            <a:pPr algn="ctr"/>
            <a:r>
              <a:rPr sz="1100">
                <a:solidFill>
                  <a:srgbClr val="222222"/>
                </a:solidFill>
              </a:rPr>
              <a:t>0.15 m along φ ∈ {0, 45, …, 315}° and stop (|v_along| &lt; 0.1 m/s for 0.3 s)
window 4 s, t0 = 2.4 s; classes pitch / roll / diagonal
score: (t_reach or 4 + 2·short) + (t_settle or 4) + 2·max(0, max_along − 0.25) + 0.5·|cross| + 0.03·max|Δz| + crash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937760"/>
            <a:ext cx="112471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Crash: true tilt &gt; 80.2°, |z − z_start| &gt; 1 m, z &lt; 0.12 m, ground clearance ≤ 3 cm, or numerical failure; crash term 10 + 5·(unflown fraction of the window). Classical normalisers (ES; opponent class means on 24 cases): evade pitch 0.80 / roll 0.59, redirect 2.09 / 1.25, dash 5.79 / 1.53 / 4.96.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fig_m1_architecture</a:t>
            </a:r>
          </a:p>
        </p:txBody>
      </p:sp>
      <p:pic>
        <p:nvPicPr>
          <p:cNvPr id="3" name="Picture 2" descr="fig_m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9790276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fig_m2_snn</a:t>
            </a:r>
          </a:p>
        </p:txBody>
      </p:sp>
      <p:pic>
        <p:nvPicPr>
          <p:cNvPr id="3" name="Picture 2" descr="fig_m2_s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9646861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fig_m3_gating</a:t>
            </a:r>
          </a:p>
        </p:txBody>
      </p:sp>
      <p:pic>
        <p:nvPicPr>
          <p:cNvPr id="3" name="Picture 2" descr="fig_m3_ga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19" cy="364679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fig_m4_pipeline</a:t>
            </a:r>
          </a:p>
        </p:txBody>
      </p:sp>
      <p:pic>
        <p:nvPicPr>
          <p:cNvPr id="3" name="Picture 2" descr="fig_m4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48117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fig_m5_tasks</a:t>
            </a:r>
          </a:p>
        </p:txBody>
      </p:sp>
      <p:pic>
        <p:nvPicPr>
          <p:cNvPr id="3" name="Picture 2" descr="fig_m5_t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39850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fig_r0_nominal</a:t>
            </a:r>
          </a:p>
        </p:txBody>
      </p:sp>
      <p:pic>
        <p:nvPicPr>
          <p:cNvPr id="3" name="Picture 2" descr="fig_r0_no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fig_r0b_skew</a:t>
            </a:r>
          </a:p>
        </p:txBody>
      </p:sp>
      <p:pic>
        <p:nvPicPr>
          <p:cNvPr id="3" name="Picture 2" descr="fig_r0b_sk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9985248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fig_r1_training</a:t>
            </a:r>
          </a:p>
        </p:txBody>
      </p:sp>
      <p:pic>
        <p:nvPicPr>
          <p:cNvPr id="3" name="Picture 2" descr="fig_r1_tr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42489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fig_r2_crashes</a:t>
            </a:r>
          </a:p>
        </p:txBody>
      </p:sp>
      <p:pic>
        <p:nvPicPr>
          <p:cNvPr id="3" name="Picture 2" descr="fig_r2_cras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433482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fig_r3_paired_delta</a:t>
            </a:r>
          </a:p>
        </p:txBody>
      </p:sp>
      <p:pic>
        <p:nvPicPr>
          <p:cNvPr id="3" name="Picture 2" descr="fig_r3_paired_del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7976381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fig_r4_dose_response</a:t>
            </a:r>
          </a:p>
        </p:txBody>
      </p:sp>
      <p:pic>
        <p:nvPicPr>
          <p:cNvPr id="3" name="Picture 2" descr="fig_r4_dose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77824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fig_r5_mechanism</a:t>
            </a:r>
          </a:p>
        </p:txBody>
      </p:sp>
      <p:pic>
        <p:nvPicPr>
          <p:cNvPr id="3" name="Picture 2" descr="fig_r5_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359907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fig_r5b_ablation</a:t>
            </a:r>
          </a:p>
        </p:txBody>
      </p:sp>
      <p:pic>
        <p:nvPicPr>
          <p:cNvPr id="3" name="Picture 2" descr="fig_r5b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53111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fig_r6_kick_frame</a:t>
            </a:r>
          </a:p>
        </p:txBody>
      </p:sp>
      <p:pic>
        <p:nvPicPr>
          <p:cNvPr id="3" name="Picture 2" descr="fig_r6_kick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6963507" cy="5760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